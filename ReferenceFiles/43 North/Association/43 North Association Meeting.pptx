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65" r:id="rId6"/>
    <p:sldId id="258" r:id="rId7"/>
    <p:sldId id="257" r:id="rId8"/>
    <p:sldId id="260" r:id="rId9"/>
    <p:sldId id="266" r:id="rId10"/>
    <p:sldId id="262" r:id="rId11"/>
    <p:sldId id="261" r:id="rId12"/>
    <p:sldId id="263" r:id="rId13"/>
    <p:sldId id="264" r:id="rId14"/>
    <p:sldId id="259" r:id="rId15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F2E2-C95F-46B4-B7E2-A462FDFC0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/>
              <a:t>43 North</a:t>
            </a:r>
            <a:br>
              <a:rPr lang="en-US" sz="5400" dirty="0"/>
            </a:br>
            <a:r>
              <a:rPr lang="en-US" sz="5400" dirty="0"/>
              <a:t>Association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AA6F0-F5A4-4CAB-8F82-5266AA68F4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December 12, 2023</a:t>
            </a:r>
          </a:p>
        </p:txBody>
      </p:sp>
    </p:spTree>
    <p:extLst>
      <p:ext uri="{BB962C8B-B14F-4D97-AF65-F5344CB8AC3E}">
        <p14:creationId xmlns:p14="http://schemas.microsoft.com/office/powerpoint/2010/main" val="3519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5B07-75EE-5BE3-B25D-90A04D2F3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erial view of a neighborhood&#10;&#10;Description automatically generated">
            <a:extLst>
              <a:ext uri="{FF2B5EF4-FFF2-40B4-BE49-F238E27FC236}">
                <a16:creationId xmlns:a16="http://schemas.microsoft.com/office/drawing/2014/main" id="{216CEFC2-01E5-811B-2309-63652B21BB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23" y="466725"/>
            <a:ext cx="11588084" cy="5676900"/>
          </a:xfrm>
        </p:spPr>
      </p:pic>
    </p:spTree>
    <p:extLst>
      <p:ext uri="{BB962C8B-B14F-4D97-AF65-F5344CB8AC3E}">
        <p14:creationId xmlns:p14="http://schemas.microsoft.com/office/powerpoint/2010/main" val="3222336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80C0-B520-4AFE-BC59-A8DC8C1B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Meeting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F065-478E-489B-8692-993DB86A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Introductory Information Regarding the Project and the Association</a:t>
            </a:r>
          </a:p>
          <a:p>
            <a:r>
              <a:rPr lang="en-US" dirty="0"/>
              <a:t>Election of Association Directors</a:t>
            </a:r>
          </a:p>
          <a:p>
            <a:r>
              <a:rPr lang="en-US" dirty="0"/>
              <a:t>Review of Association’s Records, Bank Account, Insurance</a:t>
            </a:r>
          </a:p>
          <a:p>
            <a:r>
              <a:rPr lang="en-US" dirty="0"/>
              <a:t>Review Annual Budget</a:t>
            </a:r>
          </a:p>
          <a:p>
            <a:r>
              <a:rPr lang="en-US" dirty="0"/>
              <a:t>Consideration of Such Other and Further Business as May Come Before the Meeting.</a:t>
            </a:r>
          </a:p>
        </p:txBody>
      </p:sp>
    </p:spTree>
    <p:extLst>
      <p:ext uri="{BB962C8B-B14F-4D97-AF65-F5344CB8AC3E}">
        <p14:creationId xmlns:p14="http://schemas.microsoft.com/office/powerpoint/2010/main" val="206991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80C0-B520-4AFE-BC59-A8DC8C1B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F065-478E-489B-8692-993DB86A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Began development construction 2014</a:t>
            </a:r>
          </a:p>
          <a:p>
            <a:r>
              <a:rPr lang="en-US" dirty="0"/>
              <a:t>Home construction started Fall of 2014</a:t>
            </a:r>
          </a:p>
          <a:p>
            <a:r>
              <a:rPr lang="en-US" dirty="0"/>
              <a:t>First home closed in Spring 2015</a:t>
            </a:r>
          </a:p>
          <a:p>
            <a:r>
              <a:rPr lang="en-US" dirty="0"/>
              <a:t>Phase One sold out in 2016</a:t>
            </a:r>
          </a:p>
          <a:p>
            <a:r>
              <a:rPr lang="en-US" dirty="0"/>
              <a:t>Development was paused until public water was connected by the Township in 2021.</a:t>
            </a:r>
          </a:p>
          <a:p>
            <a:r>
              <a:rPr lang="en-US" dirty="0"/>
              <a:t>Home Closings:  </a:t>
            </a:r>
          </a:p>
          <a:p>
            <a:pPr lvl="1"/>
            <a:r>
              <a:rPr lang="en-US" dirty="0"/>
              <a:t>2015 – 12 Homes</a:t>
            </a:r>
          </a:p>
          <a:p>
            <a:pPr lvl="1"/>
            <a:r>
              <a:rPr lang="en-US" dirty="0"/>
              <a:t>2016 – 12 Homes</a:t>
            </a:r>
          </a:p>
          <a:p>
            <a:pPr lvl="1"/>
            <a:r>
              <a:rPr lang="en-US" dirty="0"/>
              <a:t>2022 – 8 Homes</a:t>
            </a:r>
          </a:p>
          <a:p>
            <a:pPr lvl="1"/>
            <a:r>
              <a:rPr lang="en-US" dirty="0"/>
              <a:t>2023 – 9 Homes (2 remaining homes to close One later </a:t>
            </a:r>
            <a:r>
              <a:rPr lang="en-US"/>
              <a:t>in December, and One in April of 2024)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83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80C0-B520-4AFE-BC59-A8DC8C1B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and Association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F065-478E-489B-8692-993DB86A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43 North Site Condominium Association – Started in 2015</a:t>
            </a:r>
          </a:p>
          <a:p>
            <a:pPr lvl="1"/>
            <a:r>
              <a:rPr lang="en-US" dirty="0"/>
              <a:t>Consists of the original 25 Phase One Units and the additional 18 Phase Two Units for a total of 43 Site Condo Units.</a:t>
            </a:r>
          </a:p>
          <a:p>
            <a:r>
              <a:rPr lang="en-US" dirty="0"/>
              <a:t>Governed by a Board of Directors</a:t>
            </a:r>
          </a:p>
          <a:p>
            <a:pPr lvl="1"/>
            <a:r>
              <a:rPr lang="en-US" dirty="0"/>
              <a:t>At least three Board Members to fill the role of President, Secretary, and Treasurer.</a:t>
            </a:r>
          </a:p>
          <a:p>
            <a:r>
              <a:rPr lang="en-US" dirty="0"/>
              <a:t>Condo Associations are governed by a set of documents including a Master Deed and Bylaws which are included in the Purchaser Information Booklet that everyone was to receive and sign upon purchasing a home.</a:t>
            </a:r>
          </a:p>
        </p:txBody>
      </p:sp>
    </p:spTree>
    <p:extLst>
      <p:ext uri="{BB962C8B-B14F-4D97-AF65-F5344CB8AC3E}">
        <p14:creationId xmlns:p14="http://schemas.microsoft.com/office/powerpoint/2010/main" val="3529244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80C0-B520-4AFE-BC59-A8DC8C1B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Advisory Board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F065-478E-489B-8692-993DB86AAD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Therese Gach</a:t>
            </a:r>
          </a:p>
          <a:p>
            <a:r>
              <a:rPr lang="en-US" sz="3200" dirty="0"/>
              <a:t>Michael Mead</a:t>
            </a:r>
          </a:p>
          <a:p>
            <a:r>
              <a:rPr lang="en-US" sz="3200" dirty="0"/>
              <a:t>Devon Pearson</a:t>
            </a:r>
          </a:p>
          <a:p>
            <a:r>
              <a:rPr lang="en-US" sz="3200" dirty="0"/>
              <a:t>Joel Siegel</a:t>
            </a:r>
          </a:p>
        </p:txBody>
      </p:sp>
    </p:spTree>
    <p:extLst>
      <p:ext uri="{BB962C8B-B14F-4D97-AF65-F5344CB8AC3E}">
        <p14:creationId xmlns:p14="http://schemas.microsoft.com/office/powerpoint/2010/main" val="1003887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80C0-B520-4AFE-BC59-A8DC8C1B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Election of Association Directors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F065-478E-489B-8692-993DB86AAD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Kyle </a:t>
            </a:r>
            <a:r>
              <a:rPr lang="en-US" sz="3200" dirty="0" err="1"/>
              <a:t>Diephuis</a:t>
            </a:r>
            <a:endParaRPr lang="en-US" sz="3200" dirty="0"/>
          </a:p>
          <a:p>
            <a:r>
              <a:rPr lang="en-US" sz="3200" dirty="0"/>
              <a:t>Allison Duff</a:t>
            </a:r>
          </a:p>
          <a:p>
            <a:r>
              <a:rPr lang="en-US" sz="3200" dirty="0"/>
              <a:t>Patty Heffernan</a:t>
            </a:r>
          </a:p>
          <a:p>
            <a:r>
              <a:rPr lang="en-US" sz="3200" dirty="0"/>
              <a:t>Marisa Hohaia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5A656-910B-D7C3-2AA7-2A406B363A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3200" dirty="0"/>
              <a:t>Jacob Johnson</a:t>
            </a:r>
          </a:p>
          <a:p>
            <a:r>
              <a:rPr lang="en-US" sz="3200" dirty="0"/>
              <a:t>Brook Russell</a:t>
            </a:r>
          </a:p>
          <a:p>
            <a:r>
              <a:rPr lang="en-US" sz="3200" dirty="0"/>
              <a:t>Reid Smith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88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80C0-B520-4AFE-BC59-A8DC8C1B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Records and Bank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F065-478E-489B-8692-993DB86A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Current process for management:</a:t>
            </a:r>
          </a:p>
          <a:p>
            <a:pPr lvl="1"/>
            <a:r>
              <a:rPr lang="en-US" dirty="0"/>
              <a:t>Manager approves invoices and has JTB pay the invoices and provide bookkeeping without reimbursement or compensation.</a:t>
            </a:r>
          </a:p>
          <a:p>
            <a:pPr lvl="1"/>
            <a:r>
              <a:rPr lang="en-US" dirty="0" err="1"/>
              <a:t>Helmholdt</a:t>
            </a:r>
            <a:r>
              <a:rPr lang="en-US" dirty="0"/>
              <a:t> and Company currently prepares the annual tax return.</a:t>
            </a:r>
          </a:p>
          <a:p>
            <a:pPr lvl="1"/>
            <a:r>
              <a:rPr lang="en-US" dirty="0"/>
              <a:t>Funds are held at </a:t>
            </a:r>
            <a:r>
              <a:rPr lang="en-US" dirty="0" err="1"/>
              <a:t>Macatawa</a:t>
            </a:r>
            <a:r>
              <a:rPr lang="en-US" dirty="0"/>
              <a:t> Bank in two separate accounts (one for normal operations and one for reserves.)</a:t>
            </a:r>
          </a:p>
          <a:p>
            <a:pPr lvl="2"/>
            <a:r>
              <a:rPr lang="en-US" dirty="0"/>
              <a:t>Current Balance of Operating Account	$7,890.28 (projected ending balance approx. $7,000)</a:t>
            </a:r>
          </a:p>
          <a:p>
            <a:pPr lvl="2"/>
            <a:r>
              <a:rPr lang="en-US" dirty="0"/>
              <a:t>Current Balance of Reserve Account	$10,000  (Developer is required to ensure that 10% of the current 				year budget is in place for reserves at time of turn over.)</a:t>
            </a:r>
          </a:p>
          <a:p>
            <a:pPr lvl="1"/>
            <a:r>
              <a:rPr lang="en-US" dirty="0"/>
              <a:t>Upon transition the Association Board will be responsible for providing bookkeeping and invoice payment.  At least 2 members of the Board should be added to the checking account or new account set up.</a:t>
            </a:r>
          </a:p>
        </p:txBody>
      </p:sp>
    </p:spTree>
    <p:extLst>
      <p:ext uri="{BB962C8B-B14F-4D97-AF65-F5344CB8AC3E}">
        <p14:creationId xmlns:p14="http://schemas.microsoft.com/office/powerpoint/2010/main" val="3904151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80C0-B520-4AFE-BC59-A8DC8C1B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F065-478E-489B-8692-993DB86A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Current Contracts and Providers</a:t>
            </a:r>
          </a:p>
          <a:p>
            <a:pPr lvl="1"/>
            <a:r>
              <a:rPr lang="en-US" dirty="0"/>
              <a:t>Landscaping – 2023 service was contracted through Preferred Landscaping </a:t>
            </a:r>
          </a:p>
          <a:p>
            <a:pPr lvl="1"/>
            <a:r>
              <a:rPr lang="en-US" dirty="0"/>
              <a:t>Snow Plowing – Randy’s Lawn Care contract through April of 2024</a:t>
            </a:r>
          </a:p>
          <a:p>
            <a:pPr lvl="1"/>
            <a:r>
              <a:rPr lang="en-US" dirty="0"/>
              <a:t>Water – Plainfield Township</a:t>
            </a:r>
          </a:p>
          <a:p>
            <a:pPr lvl="1"/>
            <a:r>
              <a:rPr lang="en-US" dirty="0"/>
              <a:t>Electric – Consumers Energy</a:t>
            </a:r>
          </a:p>
          <a:p>
            <a:r>
              <a:rPr lang="en-US" dirty="0"/>
              <a:t>Insurance policy – Auto Owners Insurance Co. (Tim Koster – Berends Hendricks </a:t>
            </a:r>
            <a:r>
              <a:rPr lang="en-US" dirty="0" err="1"/>
              <a:t>Stuit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General Liability (Face Amount $2,000,000)</a:t>
            </a:r>
          </a:p>
          <a:p>
            <a:r>
              <a:rPr lang="en-US" dirty="0"/>
              <a:t>Dues Records:  For 2023 dues have been received from all but one resident (late fees are being charged and may have to escalate to lien on the property)</a:t>
            </a:r>
          </a:p>
        </p:txBody>
      </p:sp>
    </p:spTree>
    <p:extLst>
      <p:ext uri="{BB962C8B-B14F-4D97-AF65-F5344CB8AC3E}">
        <p14:creationId xmlns:p14="http://schemas.microsoft.com/office/powerpoint/2010/main" val="190061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80C0-B520-4AFE-BC59-A8DC8C1BD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379516"/>
            <a:ext cx="9603275" cy="639660"/>
          </a:xfrm>
        </p:spPr>
        <p:txBody>
          <a:bodyPr/>
          <a:lstStyle/>
          <a:p>
            <a:r>
              <a:rPr lang="en-US" dirty="0"/>
              <a:t>Review of Budget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0737C-336D-25F6-43A4-C10DE987127E}"/>
              </a:ext>
            </a:extLst>
          </p:cNvPr>
          <p:cNvSpPr txBox="1"/>
          <p:nvPr/>
        </p:nvSpPr>
        <p:spPr>
          <a:xfrm>
            <a:off x="3050309" y="3112762"/>
            <a:ext cx="610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u="none" strike="noStrike" baseline="0" dirty="0">
                <a:latin typeface="Times New Roman" panose="02020603050405020304" pitchFamily="18" charset="0"/>
              </a:rPr>
              <a:t> 	</a:t>
            </a:r>
          </a:p>
          <a:p>
            <a:endParaRPr lang="en-US" sz="1800" b="1" i="1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23F71-544F-662F-06AA-7112F97B7101}"/>
              </a:ext>
            </a:extLst>
          </p:cNvPr>
          <p:cNvSpPr txBox="1"/>
          <p:nvPr/>
        </p:nvSpPr>
        <p:spPr>
          <a:xfrm>
            <a:off x="3050309" y="3112762"/>
            <a:ext cx="610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u="none" strike="noStrike" baseline="0" dirty="0">
                <a:latin typeface="Times New Roman" panose="02020603050405020304" pitchFamily="18" charset="0"/>
              </a:rPr>
              <a:t> 	</a:t>
            </a:r>
          </a:p>
          <a:p>
            <a:endParaRPr lang="en-US" sz="1800" b="1" i="1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5D2D71-B290-7E27-BD25-26E95D37A799}"/>
              </a:ext>
            </a:extLst>
          </p:cNvPr>
          <p:cNvSpPr txBox="1"/>
          <p:nvPr/>
        </p:nvSpPr>
        <p:spPr>
          <a:xfrm>
            <a:off x="3050309" y="3112762"/>
            <a:ext cx="610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u="none" strike="noStrike" baseline="0" dirty="0">
                <a:latin typeface="Times New Roman" panose="02020603050405020304" pitchFamily="18" charset="0"/>
              </a:rPr>
              <a:t> 	</a:t>
            </a:r>
          </a:p>
          <a:p>
            <a:endParaRPr lang="en-US" sz="1800" b="1" i="1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24AED8-008B-69E3-0BD6-518F916DD9F5}"/>
              </a:ext>
            </a:extLst>
          </p:cNvPr>
          <p:cNvSpPr txBox="1"/>
          <p:nvPr/>
        </p:nvSpPr>
        <p:spPr>
          <a:xfrm>
            <a:off x="3050309" y="3235872"/>
            <a:ext cx="6100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i="1" u="none" strike="noStrike" baseline="0" dirty="0">
                <a:latin typeface="Times New Roman" panose="02020603050405020304" pitchFamily="18" charset="0"/>
              </a:rPr>
              <a:t> 	</a:t>
            </a:r>
          </a:p>
          <a:p>
            <a:endParaRPr lang="en-US" sz="1000" b="1" i="1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22" name="Content Placeholder 21" descr="A screenshot of a computer&#10;&#10;Description automatically generated">
            <a:extLst>
              <a:ext uri="{FF2B5EF4-FFF2-40B4-BE49-F238E27FC236}">
                <a16:creationId xmlns:a16="http://schemas.microsoft.com/office/drawing/2014/main" id="{F9335A54-459C-B8A0-D186-14F079993D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156" t="16755" r="22819" b="40603"/>
          <a:stretch/>
        </p:blipFill>
        <p:spPr>
          <a:xfrm>
            <a:off x="398372" y="941316"/>
            <a:ext cx="11578280" cy="5220945"/>
          </a:xfrm>
        </p:spPr>
      </p:pic>
    </p:spTree>
    <p:extLst>
      <p:ext uri="{BB962C8B-B14F-4D97-AF65-F5344CB8AC3E}">
        <p14:creationId xmlns:p14="http://schemas.microsoft.com/office/powerpoint/2010/main" val="3937691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80C0-B520-4AFE-BC59-A8DC8C1BD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F065-478E-489B-8692-993DB86A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Please let us know what other questions you may have.</a:t>
            </a:r>
          </a:p>
          <a:p>
            <a:endParaRPr lang="en-US" dirty="0"/>
          </a:p>
          <a:p>
            <a:r>
              <a:rPr lang="en-US" dirty="0"/>
              <a:t>Thanks for your time </a:t>
            </a:r>
            <a:r>
              <a:rPr lang="en-US"/>
              <a:t>this evening.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6952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479206e-175b-4ebe-9947-d22816e9318a" xsi:nil="true"/>
    <lcf76f155ced4ddcb4097134ff3c332f xmlns="3587d346-06af-42ae-85fc-924a52d5c0b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5833250F1FA14181152E496B7BA299" ma:contentTypeVersion="17" ma:contentTypeDescription="Create a new document." ma:contentTypeScope="" ma:versionID="da7dc2ddba53cea99d7de03751f62696">
  <xsd:schema xmlns:xsd="http://www.w3.org/2001/XMLSchema" xmlns:xs="http://www.w3.org/2001/XMLSchema" xmlns:p="http://schemas.microsoft.com/office/2006/metadata/properties" xmlns:ns2="3587d346-06af-42ae-85fc-924a52d5c0b5" xmlns:ns3="b479206e-175b-4ebe-9947-d22816e9318a" targetNamespace="http://schemas.microsoft.com/office/2006/metadata/properties" ma:root="true" ma:fieldsID="edbb32b5817759c8f38a30422f863e22" ns2:_="" ns3:_="">
    <xsd:import namespace="3587d346-06af-42ae-85fc-924a52d5c0b5"/>
    <xsd:import namespace="b479206e-175b-4ebe-9947-d22816e931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87d346-06af-42ae-85fc-924a52d5c0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f7b025f-094e-438f-9fef-964aaaa13f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79206e-175b-4ebe-9947-d22816e9318a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6ce1fb7-be54-44ed-a3ff-3adbd57c1492}" ma:internalName="TaxCatchAll" ma:showField="CatchAllData" ma:web="b479206e-175b-4ebe-9947-d22816e931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B58609-E245-4E49-8258-C2787A6BC935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www.w3.org/XML/1998/namespace"/>
    <ds:schemaRef ds:uri="b479206e-175b-4ebe-9947-d22816e9318a"/>
    <ds:schemaRef ds:uri="http://schemas.microsoft.com/office/infopath/2007/PartnerControls"/>
    <ds:schemaRef ds:uri="3587d346-06af-42ae-85fc-924a52d5c0b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277142D-7C85-467A-ABDB-26842982D2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E98310-6B3A-4F83-9D8A-9B43958961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87d346-06af-42ae-85fc-924a52d5c0b5"/>
    <ds:schemaRef ds:uri="b479206e-175b-4ebe-9947-d22816e931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1325</TotalTime>
  <Words>520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Times New Roman</vt:lpstr>
      <vt:lpstr>Gallery</vt:lpstr>
      <vt:lpstr>43 North Association Meeting</vt:lpstr>
      <vt:lpstr>PowerPoint Presentation</vt:lpstr>
      <vt:lpstr>Annual Meeting Agenda</vt:lpstr>
      <vt:lpstr>Timeline of Events</vt:lpstr>
      <vt:lpstr>Project and Association Information</vt:lpstr>
      <vt:lpstr>Current Advisory Board members</vt:lpstr>
      <vt:lpstr>Election of Association Directors</vt:lpstr>
      <vt:lpstr>Review of Records and Bank Account</vt:lpstr>
      <vt:lpstr>Review of Records</vt:lpstr>
      <vt:lpstr>Review of Budget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Ridge Condo Association Turnover Informational Meeting</dc:title>
  <dc:creator>Jeff Klaasen</dc:creator>
  <cp:lastModifiedBy>Jeff Klaasen</cp:lastModifiedBy>
  <cp:revision>10</cp:revision>
  <cp:lastPrinted>2023-12-04T21:59:28Z</cp:lastPrinted>
  <dcterms:created xsi:type="dcterms:W3CDTF">2020-10-20T11:08:26Z</dcterms:created>
  <dcterms:modified xsi:type="dcterms:W3CDTF">2023-12-12T20:36:58Z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0x010100945833250F1FA14181152E496B7BA299</vt:lpwstr>
  </property>
  <property fmtid="{D5CDD505-2E9C-101B-9397-08002B2CF9AE}" pid="3" name="MediaServiceImageTags">
    <vt:lpwstr/>
  </property>
</Properties>
</file>